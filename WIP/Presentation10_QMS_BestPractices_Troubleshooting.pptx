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7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80" r:id="rId14"/>
    <p:sldId id="269" r:id="rId15"/>
    <p:sldId id="270" r:id="rId16"/>
    <p:sldId id="272" r:id="rId17"/>
    <p:sldId id="273" r:id="rId18"/>
    <p:sldId id="274" r:id="rId19"/>
    <p:sldId id="281" r:id="rId20"/>
    <p:sldId id="275" r:id="rId21"/>
    <p:sldId id="276" r:id="rId22"/>
    <p:sldId id="277" r:id="rId23"/>
    <p:sldId id="279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27CB9-458D-1A44-B87C-DCCA0CBA23E8}" v="31" dt="2026-03-16T18:59:48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5" autoAdjust="0"/>
    <p:restoredTop sz="94729"/>
  </p:normalViewPr>
  <p:slideViewPr>
    <p:cSldViewPr snapToGrid="0">
      <p:cViewPr varScale="1">
        <p:scale>
          <a:sx n="112" d="100"/>
          <a:sy n="112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001E2-4C32-47B2-A93F-244F873B1665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9FE1F-4F72-4F7D-A544-81986FA57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https://www.atlassian.com/git/tutorials/using-branches/git-merge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3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451A-DAF5-1C9A-BDE7-33C1F234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48E7B-6145-4BBD-BA53-2C52C3FBE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70377-2A12-B229-4D26-427F0587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https://www.atlassian.com/git/tutorials/using-branches/git-merge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4DC6A-0609-F8E6-9CB7-E230AEDF5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1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B45C-AA26-EC47-625F-04121A93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1F0D8-7AD9-ADA0-FA44-93D39FBFB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648D2-BE4D-7A7F-CF26-DE19AA115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https://www.atlassian.com/git/tutorials/using-branches/git-merge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974BA-AF60-4ED1-D2DA-912A98C0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46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Adapted from https://www.biorender.com/template/influenza-virus-reassortment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65582-C4D1-4014-8879-A5830BDD57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51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https://www.jci.org/articles/view/44947/figure/2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65582-C4D1-4014-8879-A5830BDD57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4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8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ci.org/articles/view/44947/figure/2" TargetMode="Externa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hyperlink" Target="https://analyticalsciencejournals.onlinelibrary.wiley.com/doi/10.1002/biot.201400429" TargetMode="Externa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DAC700-638F-A9A6-14B7-9E1399947D3E}"/>
              </a:ext>
            </a:extLst>
          </p:cNvPr>
          <p:cNvSpPr txBox="1"/>
          <p:nvPr/>
        </p:nvSpPr>
        <p:spPr>
          <a:xfrm>
            <a:off x="600390" y="2522441"/>
            <a:ext cx="6900333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900"/>
              </a:lnSpc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Leveraging QMS for Bioinformatics and programming best practices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88C3EA"/>
                </a:solidFill>
                <a:latin typeface="Calibri"/>
                <a:ea typeface="Segoe UI"/>
                <a:cs typeface="Segoe UI"/>
              </a:rPr>
              <a:t>Presenter Name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1D82-8C3A-F617-D2EA-4F0E28EA399B}"/>
              </a:ext>
            </a:extLst>
          </p:cNvPr>
          <p:cNvSpPr/>
          <p:nvPr/>
        </p:nvSpPr>
        <p:spPr>
          <a:xfrm>
            <a:off x="76199" y="457200"/>
            <a:ext cx="12115801" cy="109728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955C9-E9DA-2654-F748-1B92402B3C49}"/>
              </a:ext>
            </a:extLst>
          </p:cNvPr>
          <p:cNvSpPr txBox="1"/>
          <p:nvPr/>
        </p:nvSpPr>
        <p:spPr>
          <a:xfrm>
            <a:off x="600390" y="553818"/>
            <a:ext cx="6282746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sz="4400" dirty="0"/>
              <a:t>QMS and Best Practices</a:t>
            </a:r>
          </a:p>
        </p:txBody>
      </p:sp>
      <p:pic>
        <p:nvPicPr>
          <p:cNvPr id="7" name="Picture 6" descr="4fbf492d-794b-4e01-9b08-303105cf04ef.png">
            <a:extLst>
              <a:ext uri="{FF2B5EF4-FFF2-40B4-BE49-F238E27FC236}">
                <a16:creationId xmlns:a16="http://schemas.microsoft.com/office/drawing/2014/main" id="{60650807-60A9-AF3A-03C2-FC4920CB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1" y="548641"/>
            <a:ext cx="142206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6D935-C53C-DEED-D001-7889C6B89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8" y="1880558"/>
            <a:ext cx="6780363" cy="45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1D94-BD5D-A0CB-5BBE-63D0F755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ECC031-1E7A-651E-3C19-085875BEC009}"/>
              </a:ext>
            </a:extLst>
          </p:cNvPr>
          <p:cNvSpPr/>
          <p:nvPr/>
        </p:nvSpPr>
        <p:spPr>
          <a:xfrm>
            <a:off x="0" y="-45720"/>
            <a:ext cx="12188952" cy="73152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8247D-D297-7403-AF0B-241DE5C67836}"/>
              </a:ext>
            </a:extLst>
          </p:cNvPr>
          <p:cNvSpPr txBox="1"/>
          <p:nvPr/>
        </p:nvSpPr>
        <p:spPr>
          <a:xfrm>
            <a:off x="188596" y="15301"/>
            <a:ext cx="1968809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Disclaimer</a:t>
            </a:r>
          </a:p>
        </p:txBody>
      </p:sp>
      <p:pic>
        <p:nvPicPr>
          <p:cNvPr id="5" name="Picture 4" descr="4fbf492d-794b-4e01-9b08-303105cf04ef.png">
            <a:extLst>
              <a:ext uri="{FF2B5EF4-FFF2-40B4-BE49-F238E27FC236}">
                <a16:creationId xmlns:a16="http://schemas.microsoft.com/office/drawing/2014/main" id="{1837F200-471D-A57B-F584-2C607BF26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50" y="6296025"/>
            <a:ext cx="853236" cy="548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5F9D54-C541-7C5E-977A-C86A79CB1C53}"/>
              </a:ext>
            </a:extLst>
          </p:cNvPr>
          <p:cNvSpPr/>
          <p:nvPr/>
        </p:nvSpPr>
        <p:spPr>
          <a:xfrm>
            <a:off x="3505200" y="2286000"/>
            <a:ext cx="914400" cy="274320"/>
          </a:xfrm>
          <a:prstGeom prst="rect">
            <a:avLst/>
          </a:prstGeom>
          <a:solidFill>
            <a:srgbClr val="88C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63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A90635-406D-A077-990C-8AA57AEA164B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87650-0711-BDC5-9677-353FED4B82D7}"/>
              </a:ext>
            </a:extLst>
          </p:cNvPr>
          <p:cNvSpPr txBox="1"/>
          <p:nvPr/>
        </p:nvSpPr>
        <p:spPr>
          <a:xfrm>
            <a:off x="627960" y="99383"/>
            <a:ext cx="45892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Module Objectives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98131CB9-377D-59CE-B248-FA902F220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4E70AA-61B7-C320-A819-0E670B9A3E34}"/>
              </a:ext>
            </a:extLst>
          </p:cNvPr>
          <p:cNvSpPr txBox="1"/>
          <p:nvPr/>
        </p:nvSpPr>
        <p:spPr>
          <a:xfrm>
            <a:off x="308783" y="1320730"/>
            <a:ext cx="104972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Trainees will be able to describe a quality management system and its components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Apply quality management system (QMS) principles to pre-analytical and analytical phases of NGS workflow including quality control steps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Faculty will emphasize the importance of documentation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332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CDCD-C14E-0AAA-94AB-983E2754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99021B-C39B-7B94-C318-87EAB77B78B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19D3F-96DB-04AD-FB81-BC46B418C04F}"/>
              </a:ext>
            </a:extLst>
          </p:cNvPr>
          <p:cNvSpPr txBox="1"/>
          <p:nvPr/>
        </p:nvSpPr>
        <p:spPr>
          <a:xfrm>
            <a:off x="627960" y="99383"/>
            <a:ext cx="37362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>
              <a:defRPr sz="4400" b="1">
                <a:solidFill>
                  <a:srgbClr val="FFFFFF"/>
                </a:solidFill>
              </a:defRPr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Reproducibility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243A2D8-3DD9-09D9-EBE9-5BDF37BF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DB65E0-9D5C-E745-47AA-FA7D8CDF1051}"/>
              </a:ext>
            </a:extLst>
          </p:cNvPr>
          <p:cNvSpPr txBox="1"/>
          <p:nvPr/>
        </p:nvSpPr>
        <p:spPr>
          <a:xfrm>
            <a:off x="627960" y="1655064"/>
            <a:ext cx="74736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input + same methods = same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principle of computational (all)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software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Aligners,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samtools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variant callers, workflow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parameters and 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 schemes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workflow managers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Snakemake,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Nextflow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structured, repeatable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or Singularity ensure consistent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changes with version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for scripts and pipeline development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79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BEDE-836F-EBEF-40FB-EF83D8C5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500474-C0E7-C0AD-E400-10A8718CC3CF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52E5D-315E-A9B9-8F86-16F788AC6EA9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C235BEDE-668E-3015-ADBF-8DE9839C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0FC4D9-B381-54A2-A54A-BA6D52274254}"/>
              </a:ext>
            </a:extLst>
          </p:cNvPr>
          <p:cNvSpPr txBox="1"/>
          <p:nvPr/>
        </p:nvSpPr>
        <p:spPr>
          <a:xfrm>
            <a:off x="536865" y="1381115"/>
            <a:ext cx="10497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how tools and pipelines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Inputs, outputs, parameters, and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reproducibility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(and future you) can rerun the same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errors and misuse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defaults and examples prevent incorrect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 for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understanding across labs, teams, and institutions</a:t>
            </a:r>
          </a:p>
          <a:p>
            <a:pPr fontAlgn="base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7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2CC1-7CD5-F081-D72E-392C9D6B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20BBE2-2812-691A-6C6E-B68A377C36D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2D26A-F841-C903-E887-97E6B36F4C46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080A1B22-4EA1-FA2F-5FD9-BDD8078D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5BE8D2-4AF1-2426-024B-4D6B203ABF8A}"/>
              </a:ext>
            </a:extLst>
          </p:cNvPr>
          <p:cNvSpPr txBox="1"/>
          <p:nvPr/>
        </p:nvSpPr>
        <p:spPr>
          <a:xfrm>
            <a:off x="627960" y="1424463"/>
            <a:ext cx="10497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Forms of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README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Overview, requirements, and basic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examples &amp; command snippets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pasteable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descriptions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flags do, expected values, and defaults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steps, inputs, and outputs</a:t>
            </a:r>
          </a:p>
        </p:txBody>
      </p:sp>
    </p:spTree>
    <p:extLst>
      <p:ext uri="{BB962C8B-B14F-4D97-AF65-F5344CB8AC3E}">
        <p14:creationId xmlns:p14="http://schemas.microsoft.com/office/powerpoint/2010/main" val="20362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A723-26FB-45C7-1A69-83F3DAFD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BCD540-B05F-0694-BA3F-9A32D348532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21B8A-3B51-F82A-D364-D6AAD33922B2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E94D8818-CC26-EA73-A4CC-18D7965B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85AD3E-91DF-3F6E-2378-092DB43669E5}"/>
              </a:ext>
            </a:extLst>
          </p:cNvPr>
          <p:cNvSpPr txBox="1"/>
          <p:nvPr/>
        </p:nvSpPr>
        <p:spPr>
          <a:xfrm>
            <a:off x="627960" y="1493258"/>
            <a:ext cx="10497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in writing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Document data formats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FASTQ, FASTA, BAM, reference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software versions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Tools, containers, workflow managers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example datasets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test cases to validate setup</a:t>
            </a:r>
          </a:p>
        </p:txBody>
      </p:sp>
    </p:spTree>
    <p:extLst>
      <p:ext uri="{BB962C8B-B14F-4D97-AF65-F5344CB8AC3E}">
        <p14:creationId xmlns:p14="http://schemas.microsoft.com/office/powerpoint/2010/main" val="198295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36C5-6C6D-6F47-39E2-F56246E1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8E1FCF-A51D-98B3-1388-6B2249F0C966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637CA-7F6A-15F8-E74F-42632CCC98A8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5B3174D4-2D29-6714-4CBE-CA0CF54D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90DEF-5562-8711-A70A-DD405333B885}"/>
              </a:ext>
            </a:extLst>
          </p:cNvPr>
          <p:cNvSpPr txBox="1"/>
          <p:nvPr/>
        </p:nvSpPr>
        <p:spPr>
          <a:xfrm>
            <a:off x="627960" y="1443841"/>
            <a:ext cx="104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in using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with the README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purpose, inputs, outputs, and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versions and 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the documentation matches the tool or pipeline version you’re using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the example 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the provided test or example before real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parameter descriptions carefully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Defaults may not match your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input formats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FASTQ, FASTA, BAM, sample sheets, reference builds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for expected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 files and directories match the documented results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2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90D7-143D-70D6-B6EE-23DE925A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827983-60D2-5E7B-2078-B5A1D96B2C18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8F4AA-A137-2D79-9FD4-CA73A6BDF8C7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D2412939-1A41-10C5-B999-47583131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E84881-E64B-9896-B0F0-3F9E5D920313}"/>
              </a:ext>
            </a:extLst>
          </p:cNvPr>
          <p:cNvSpPr txBox="1"/>
          <p:nvPr/>
        </p:nvSpPr>
        <p:spPr>
          <a:xfrm>
            <a:off x="442104" y="1666674"/>
            <a:ext cx="7494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 is a version control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changes to files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Designed for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people can work on the same codebase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of it like a shared document (Microsoft office, Google docs)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Keeps a history of your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what changed, when, and why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Common in bioinformatics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Pipelines, scripts, documentation, and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Gitlab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used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F6AD78-9F12-2AD6-35A0-A22D78432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97" y="1354346"/>
            <a:ext cx="3149673" cy="2202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1CECF1-2A4A-1364-C622-5E90C7FAA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068" y="3922421"/>
            <a:ext cx="3729487" cy="20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0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BF16-0272-8508-5C72-E4184CC6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763097-921C-2243-D1E2-9941E2DEB1BC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1B032-7111-37D3-8EB0-C7BDAAFB1827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126D3D3-9E6F-B4E9-BD51-ECDD4C42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E1BF0-9AF6-154A-4A61-EEC7D57666CE}"/>
              </a:ext>
            </a:extLst>
          </p:cNvPr>
          <p:cNvSpPr txBox="1"/>
          <p:nvPr/>
        </p:nvSpPr>
        <p:spPr>
          <a:xfrm>
            <a:off x="442104" y="1491316"/>
            <a:ext cx="41298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Git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 (repo)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project tracked by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saved snapshot of changes with a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parallel version of the code for development 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repository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copy on platforms like GitHub or GitLab</a:t>
            </a:r>
          </a:p>
        </p:txBody>
      </p:sp>
      <p:pic>
        <p:nvPicPr>
          <p:cNvPr id="2" name="Picture 1" descr="Graphical user interface&#10;&#10;AI-generated content may be incorrect.">
            <a:extLst>
              <a:ext uri="{FF2B5EF4-FFF2-40B4-BE49-F238E27FC236}">
                <a16:creationId xmlns:a16="http://schemas.microsoft.com/office/drawing/2014/main" id="{1B63D69A-8394-3DE5-987E-79DCAF077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540" y="1043063"/>
            <a:ext cx="7198359" cy="4000567"/>
          </a:xfrm>
          <a:prstGeom prst="rect">
            <a:avLst/>
          </a:prstGeom>
        </p:spPr>
      </p:pic>
      <p:pic>
        <p:nvPicPr>
          <p:cNvPr id="5" name="Picture 4" descr="Text&#10;&#10;AI-generated content may be incorrect.">
            <a:extLst>
              <a:ext uri="{FF2B5EF4-FFF2-40B4-BE49-F238E27FC236}">
                <a16:creationId xmlns:a16="http://schemas.microsoft.com/office/drawing/2014/main" id="{0C4C7BEE-DFA1-CB44-EB3E-BEC3D033A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212" y="5381958"/>
            <a:ext cx="5243014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8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8921-7811-F50D-021E-70065717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23E7AE-1CBD-F031-7FD2-F92DCC39574D}"/>
              </a:ext>
            </a:extLst>
          </p:cNvPr>
          <p:cNvSpPr/>
          <p:nvPr/>
        </p:nvSpPr>
        <p:spPr>
          <a:xfrm>
            <a:off x="0" y="0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E7251-9942-CAB4-9F98-625783E1B873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EE69683-4057-2882-83EC-D1154452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8B9C8-C672-E423-EFEF-3017569AFE2E}"/>
              </a:ext>
            </a:extLst>
          </p:cNvPr>
          <p:cNvSpPr txBox="1"/>
          <p:nvPr/>
        </p:nvSpPr>
        <p:spPr>
          <a:xfrm>
            <a:off x="442104" y="1491316"/>
            <a:ext cx="7494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Git Commands (User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or get a repository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 — start a repo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clone &lt;repo&gt; — copy an existing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and save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status — see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add file — stage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commit -m "message" — save snapshot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Sync with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pull — get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push — share your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0D385-3258-41D6-87DC-69732BB06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332" y="1075246"/>
            <a:ext cx="76200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5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A3EC-9C48-36DE-4AD3-05D34F9A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8EC496-AE35-8D97-F14C-E166864923E1}"/>
              </a:ext>
            </a:extLst>
          </p:cNvPr>
          <p:cNvSpPr/>
          <p:nvPr/>
        </p:nvSpPr>
        <p:spPr>
          <a:xfrm>
            <a:off x="0" y="338116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8AED82B7-3A69-4F92-8BAB-969A591F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488E12-830E-0DD3-5FF8-9B8792940ED0}"/>
              </a:ext>
            </a:extLst>
          </p:cNvPr>
          <p:cNvSpPr txBox="1"/>
          <p:nvPr/>
        </p:nvSpPr>
        <p:spPr>
          <a:xfrm>
            <a:off x="594094" y="459580"/>
            <a:ext cx="43027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Looking things up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B0291-6B5A-C9D6-4E02-576DF4D3D517}"/>
              </a:ext>
            </a:extLst>
          </p:cNvPr>
          <p:cNvSpPr txBox="1"/>
          <p:nvPr/>
        </p:nvSpPr>
        <p:spPr>
          <a:xfrm>
            <a:off x="419526" y="1909004"/>
            <a:ext cx="74941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Official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Start with the tool’s official documentation or manual page (man </a:t>
            </a:r>
            <a:r>
              <a:rPr lang="en-US" dirty="0" err="1"/>
              <a:t>toolname</a:t>
            </a:r>
            <a:r>
              <a:rPr lang="en-US" dirty="0"/>
              <a:t> or </a:t>
            </a:r>
            <a:r>
              <a:rPr lang="en-US" dirty="0" err="1"/>
              <a:t>toolname</a:t>
            </a:r>
            <a:r>
              <a:rPr lang="en-US" dirty="0"/>
              <a:t> --help).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Identify the relevant section (usage, options, examples) before searching randomly online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Ctrl + F is your friend!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Look for example commands in the documentation to understand correct syntax and common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Verify version-specific behavior, since options can change between tool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documentation to confirm flags, parameters, and expected inputs/outputs before running commands on real data</a:t>
            </a:r>
          </a:p>
        </p:txBody>
      </p:sp>
    </p:spTree>
    <p:extLst>
      <p:ext uri="{BB962C8B-B14F-4D97-AF65-F5344CB8AC3E}">
        <p14:creationId xmlns:p14="http://schemas.microsoft.com/office/powerpoint/2010/main" val="439621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8DD6-F522-2BE9-3E9A-14B05AAE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8D7B8-1974-EA7E-3C4F-EE4A03FDC207}"/>
              </a:ext>
            </a:extLst>
          </p:cNvPr>
          <p:cNvSpPr/>
          <p:nvPr/>
        </p:nvSpPr>
        <p:spPr>
          <a:xfrm>
            <a:off x="0" y="338116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8764A0BF-6554-F8C5-DBB1-12A44606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314AE1-6CD8-5242-D61B-D6C30D9984AD}"/>
              </a:ext>
            </a:extLst>
          </p:cNvPr>
          <p:cNvSpPr txBox="1"/>
          <p:nvPr/>
        </p:nvSpPr>
        <p:spPr>
          <a:xfrm>
            <a:off x="594094" y="459580"/>
            <a:ext cx="43027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Looking things up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1441C-A1A8-F3AD-12BD-09119E367922}"/>
              </a:ext>
            </a:extLst>
          </p:cNvPr>
          <p:cNvSpPr txBox="1"/>
          <p:nvPr/>
        </p:nvSpPr>
        <p:spPr>
          <a:xfrm>
            <a:off x="442104" y="1491316"/>
            <a:ext cx="74941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Forums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StackOverflow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Biostars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9F67D4C0-458C-E42B-8B0C-B97CAC9B4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249" y="2820394"/>
            <a:ext cx="6023647" cy="3490095"/>
          </a:xfrm>
          <a:prstGeom prst="rect">
            <a:avLst/>
          </a:prstGeom>
        </p:spPr>
      </p:pic>
      <p:pic>
        <p:nvPicPr>
          <p:cNvPr id="1026" name="Picture 2" descr="What is the font used in the Stack Overflow logo, after it was changed few  years ago? - Meta Stack Exchange">
            <a:extLst>
              <a:ext uri="{FF2B5EF4-FFF2-40B4-BE49-F238E27FC236}">
                <a16:creationId xmlns:a16="http://schemas.microsoft.com/office/drawing/2014/main" id="{FE7F1B95-9999-BDA7-59C1-8614FF82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877" y="591813"/>
            <a:ext cx="3980744" cy="265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ostars - Bioinformatics Resources for CCR Scientists">
            <a:extLst>
              <a:ext uri="{FF2B5EF4-FFF2-40B4-BE49-F238E27FC236}">
                <a16:creationId xmlns:a16="http://schemas.microsoft.com/office/drawing/2014/main" id="{90364A5B-1DCE-DE49-18A1-C3DC026A5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302" y="1560921"/>
            <a:ext cx="3612643" cy="8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441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12BD0-B61C-CA93-7A40-61E614B1C419}"/>
              </a:ext>
            </a:extLst>
          </p:cNvPr>
          <p:cNvSpPr txBox="1"/>
          <p:nvPr/>
        </p:nvSpPr>
        <p:spPr>
          <a:xfrm>
            <a:off x="600390" y="2522441"/>
            <a:ext cx="6900333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End-to-end troubleshooting for NGS, Bioinformatics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D82F4-B81A-6E7D-70A6-D5A492633615}"/>
              </a:ext>
            </a:extLst>
          </p:cNvPr>
          <p:cNvSpPr/>
          <p:nvPr/>
        </p:nvSpPr>
        <p:spPr>
          <a:xfrm>
            <a:off x="76199" y="457200"/>
            <a:ext cx="12115801" cy="109728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BF0B0-2B0A-8D47-2949-C04A40AA36F7}"/>
              </a:ext>
            </a:extLst>
          </p:cNvPr>
          <p:cNvSpPr txBox="1"/>
          <p:nvPr/>
        </p:nvSpPr>
        <p:spPr>
          <a:xfrm>
            <a:off x="600390" y="553818"/>
            <a:ext cx="4343240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sz="4400" dirty="0"/>
              <a:t>Troubleshooting</a:t>
            </a:r>
          </a:p>
        </p:txBody>
      </p:sp>
      <p:pic>
        <p:nvPicPr>
          <p:cNvPr id="7" name="Picture 6" descr="4fbf492d-794b-4e01-9b08-303105cf04ef.png">
            <a:extLst>
              <a:ext uri="{FF2B5EF4-FFF2-40B4-BE49-F238E27FC236}">
                <a16:creationId xmlns:a16="http://schemas.microsoft.com/office/drawing/2014/main" id="{F0CDBB54-4C7E-AA10-0545-531CFDA65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1" y="548641"/>
            <a:ext cx="14220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0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C4D8-814F-6094-F36C-494C8769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C5F832-4BEC-409C-2B1B-D4BE1ED47FA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E6973-685B-4078-A09A-D213D9929B78}"/>
              </a:ext>
            </a:extLst>
          </p:cNvPr>
          <p:cNvSpPr txBox="1"/>
          <p:nvPr/>
        </p:nvSpPr>
        <p:spPr>
          <a:xfrm>
            <a:off x="627960" y="99383"/>
            <a:ext cx="33235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Reassortants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DF5E659B-06D8-377E-CCC4-B1D0F763E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8713D8-05F4-81CC-A937-DE2A8F424C1E}"/>
              </a:ext>
            </a:extLst>
          </p:cNvPr>
          <p:cNvSpPr txBox="1"/>
          <p:nvPr/>
        </p:nvSpPr>
        <p:spPr>
          <a:xfrm>
            <a:off x="508959" y="1663695"/>
            <a:ext cx="69615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Reassortment occurs when two influenza viruses co-infect the same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Segments mix during viral replication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Produces new viral combinations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“Gene swapping” between strains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driver of influenza evolution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generate novel strains with new properties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5DCE09-6D99-697A-F1E0-6A5CE8410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85" y="2419709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8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A18D-8412-E831-6F30-E10A5B99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15494F-390B-9558-066A-7442A33E4C6A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ECC53-FF31-6391-4F47-C8CD66EF5E9E}"/>
              </a:ext>
            </a:extLst>
          </p:cNvPr>
          <p:cNvSpPr txBox="1"/>
          <p:nvPr/>
        </p:nvSpPr>
        <p:spPr>
          <a:xfrm>
            <a:off x="627960" y="99383"/>
            <a:ext cx="33235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Reassortants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D2C6B987-E140-22CB-33E9-12741C7D8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9F3A61-FB7C-282A-C592-3F9C310F46E6}"/>
              </a:ext>
            </a:extLst>
          </p:cNvPr>
          <p:cNvSpPr txBox="1"/>
          <p:nvPr/>
        </p:nvSpPr>
        <p:spPr>
          <a:xfrm>
            <a:off x="508959" y="1663695"/>
            <a:ext cx="69615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mechanism of antigenic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change in HA and/or NA subtype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create viruses with little existing population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of pandemic emergence: 2009 H1N1 arose from reassortment among swine, avian, and human lineages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Alters viral fitness and transmissibility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combinations can affect replication efficiency, host range, and virulence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Complicates surveillance and vaccine strain selection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 HA/NA pairings may require vaccine updates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D842AD-4CA3-65BC-E2C2-C7101344D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37" y="1472184"/>
            <a:ext cx="4395204" cy="4242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96341F-058D-EFCC-AA95-46379170FC7A}"/>
              </a:ext>
            </a:extLst>
          </p:cNvPr>
          <p:cNvSpPr txBox="1"/>
          <p:nvPr/>
        </p:nvSpPr>
        <p:spPr>
          <a:xfrm>
            <a:off x="8924544" y="5980176"/>
            <a:ext cx="2556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hlinkClick r:id="rId5"/>
              </a:rPr>
              <a:t>https://www.jci.org/articles/view/44947/figure/2</a:t>
            </a:r>
            <a:r>
              <a:rPr lang="en-US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0813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FF8A-6E43-73BA-0D5A-BFA7A600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E17503-41BB-D977-8A49-D3D739E2093B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03B68-2E37-4A37-58F6-41EEA6CEBC48}"/>
              </a:ext>
            </a:extLst>
          </p:cNvPr>
          <p:cNvSpPr txBox="1"/>
          <p:nvPr/>
        </p:nvSpPr>
        <p:spPr>
          <a:xfrm>
            <a:off x="627960" y="99383"/>
            <a:ext cx="33235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Reassortants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7518920B-5BF3-49A7-2AAA-57E21F9E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56CECB-C6C2-E650-C863-A0DDB4310E1E}"/>
              </a:ext>
            </a:extLst>
          </p:cNvPr>
          <p:cNvSpPr txBox="1"/>
          <p:nvPr/>
        </p:nvSpPr>
        <p:spPr>
          <a:xfrm>
            <a:off x="470741" y="1680948"/>
            <a:ext cx="69615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when we detect a reassortants?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KARMAflu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available (coming soon to MIRA-NF too)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Typically, it is contamination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Sometimes, it is co-infection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Rarely, it is true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reassorant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know which?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SNVs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RT-PCR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.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bams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952992F-ECC2-10F0-B540-6C0BF1C4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080" y="2489976"/>
            <a:ext cx="7397106" cy="34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96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D7EC-4AC5-023E-5D82-C38A701C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307BB7-25F2-BF07-4693-10C0D8F11137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44DD4-CF12-DBD9-DB55-945BE8C5FD4B}"/>
              </a:ext>
            </a:extLst>
          </p:cNvPr>
          <p:cNvSpPr txBox="1"/>
          <p:nvPr/>
        </p:nvSpPr>
        <p:spPr>
          <a:xfrm>
            <a:off x="627960" y="99383"/>
            <a:ext cx="66704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More often: contamination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61833E72-6C43-F439-993F-2C35ACEE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09E672-936F-0640-92C3-11D2FCC16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71675"/>
              </p:ext>
            </p:extLst>
          </p:nvPr>
        </p:nvGraphicFramePr>
        <p:xfrm>
          <a:off x="627960" y="2018030"/>
          <a:ext cx="10721337" cy="3809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673">
                  <a:extLst>
                    <a:ext uri="{9D8B030D-6E8A-4147-A177-3AD203B41FA5}">
                      <a16:colId xmlns:a16="http://schemas.microsoft.com/office/drawing/2014/main" val="1388309448"/>
                    </a:ext>
                  </a:extLst>
                </a:gridCol>
                <a:gridCol w="956673">
                  <a:extLst>
                    <a:ext uri="{9D8B030D-6E8A-4147-A177-3AD203B41FA5}">
                      <a16:colId xmlns:a16="http://schemas.microsoft.com/office/drawing/2014/main" val="562486153"/>
                    </a:ext>
                  </a:extLst>
                </a:gridCol>
                <a:gridCol w="956673">
                  <a:extLst>
                    <a:ext uri="{9D8B030D-6E8A-4147-A177-3AD203B41FA5}">
                      <a16:colId xmlns:a16="http://schemas.microsoft.com/office/drawing/2014/main" val="1540523040"/>
                    </a:ext>
                  </a:extLst>
                </a:gridCol>
                <a:gridCol w="1085451">
                  <a:extLst>
                    <a:ext uri="{9D8B030D-6E8A-4147-A177-3AD203B41FA5}">
                      <a16:colId xmlns:a16="http://schemas.microsoft.com/office/drawing/2014/main" val="1238375717"/>
                    </a:ext>
                  </a:extLst>
                </a:gridCol>
                <a:gridCol w="827895">
                  <a:extLst>
                    <a:ext uri="{9D8B030D-6E8A-4147-A177-3AD203B41FA5}">
                      <a16:colId xmlns:a16="http://schemas.microsoft.com/office/drawing/2014/main" val="1361708301"/>
                    </a:ext>
                  </a:extLst>
                </a:gridCol>
                <a:gridCol w="956673">
                  <a:extLst>
                    <a:ext uri="{9D8B030D-6E8A-4147-A177-3AD203B41FA5}">
                      <a16:colId xmlns:a16="http://schemas.microsoft.com/office/drawing/2014/main" val="1528353867"/>
                    </a:ext>
                  </a:extLst>
                </a:gridCol>
                <a:gridCol w="956673">
                  <a:extLst>
                    <a:ext uri="{9D8B030D-6E8A-4147-A177-3AD203B41FA5}">
                      <a16:colId xmlns:a16="http://schemas.microsoft.com/office/drawing/2014/main" val="3933394818"/>
                    </a:ext>
                  </a:extLst>
                </a:gridCol>
                <a:gridCol w="956673">
                  <a:extLst>
                    <a:ext uri="{9D8B030D-6E8A-4147-A177-3AD203B41FA5}">
                      <a16:colId xmlns:a16="http://schemas.microsoft.com/office/drawing/2014/main" val="2883873215"/>
                    </a:ext>
                  </a:extLst>
                </a:gridCol>
                <a:gridCol w="3067953">
                  <a:extLst>
                    <a:ext uri="{9D8B030D-6E8A-4147-A177-3AD203B41FA5}">
                      <a16:colId xmlns:a16="http://schemas.microsoft.com/office/drawing/2014/main" val="344696169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sample_id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total_reads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pass_qc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reads_mapped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reference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percent_reference_coverage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median_coverage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count_minor_snv_at_or_over_5_pct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pass_fail_reason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47918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10388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A_HA_H1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99.82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52285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95828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5818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A_MP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68717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A_NA_N1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99.79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1886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9146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A_NP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04892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95828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5704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97.1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67666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11790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17748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13230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A_PB1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03906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95f48e8a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A_PB2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391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39338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A_HA_H3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99.82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28936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1382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A_MP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19220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A_NA_N2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9002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A_NP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02890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1336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97.1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96609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1341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c282a097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2712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A_PB1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23609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c282a097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16170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2660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A_PB2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Count of minor variants at or over 5% &gt; 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9196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709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9E16-5E00-B648-0CA5-719619C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F882B-9EE1-698E-725B-A121D5D46E92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A5E81-9525-630F-386E-C94B19C74F34}"/>
              </a:ext>
            </a:extLst>
          </p:cNvPr>
          <p:cNvSpPr txBox="1"/>
          <p:nvPr/>
        </p:nvSpPr>
        <p:spPr>
          <a:xfrm>
            <a:off x="627960" y="99383"/>
            <a:ext cx="66704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More often: contamination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0C9C6BE3-73AD-63D3-3CAD-372F2C7B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DF774-E73D-423A-134D-47DC1621B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91" y="1216892"/>
            <a:ext cx="8823209" cy="5063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1B92B8-1E72-0A4A-EA3B-0628996824FA}"/>
              </a:ext>
            </a:extLst>
          </p:cNvPr>
          <p:cNvSpPr txBox="1"/>
          <p:nvPr/>
        </p:nvSpPr>
        <p:spPr>
          <a:xfrm>
            <a:off x="525780" y="2205990"/>
            <a:ext cx="2400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populations are present. </a:t>
            </a:r>
          </a:p>
          <a:p>
            <a:endParaRPr lang="en-US" dirty="0"/>
          </a:p>
          <a:p>
            <a:r>
              <a:rPr lang="en-US" dirty="0"/>
              <a:t>One matching reference (gray) one sharing all the colored SNVs</a:t>
            </a:r>
          </a:p>
          <a:p>
            <a:endParaRPr lang="en-US" dirty="0"/>
          </a:p>
          <a:p>
            <a:r>
              <a:rPr lang="en-US" dirty="0"/>
              <a:t>2+ mutations on one molecule are “phased” or “linked”</a:t>
            </a:r>
          </a:p>
        </p:txBody>
      </p:sp>
    </p:spTree>
    <p:extLst>
      <p:ext uri="{BB962C8B-B14F-4D97-AF65-F5344CB8AC3E}">
        <p14:creationId xmlns:p14="http://schemas.microsoft.com/office/powerpoint/2010/main" val="2213932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90B3-D37C-8D36-4B91-94CCC811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34CE9C-83D8-5256-4399-15E0430234F2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F929E-8AFA-E253-BD4F-F28BFFFB84E3}"/>
              </a:ext>
            </a:extLst>
          </p:cNvPr>
          <p:cNvSpPr txBox="1"/>
          <p:nvPr/>
        </p:nvSpPr>
        <p:spPr>
          <a:xfrm>
            <a:off x="627960" y="99383"/>
            <a:ext cx="29308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 Particles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C539CD24-BF93-B4A7-5A16-05C55BB3E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AEED17-4064-25FD-CE48-B803CE02DD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446"/>
          <a:stretch>
            <a:fillRect/>
          </a:stretch>
        </p:blipFill>
        <p:spPr>
          <a:xfrm>
            <a:off x="4419600" y="3429000"/>
            <a:ext cx="7772400" cy="28538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5ACD0-545A-39C7-B285-202BEF2E3D99}"/>
              </a:ext>
            </a:extLst>
          </p:cNvPr>
          <p:cNvSpPr txBox="1"/>
          <p:nvPr/>
        </p:nvSpPr>
        <p:spPr>
          <a:xfrm>
            <a:off x="6546056" y="3108392"/>
            <a:ext cx="91430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https://analyticalsciencejournals.onlinelibrary.wiley.com/doi/10.1002/biot.201400429</a:t>
            </a:r>
            <a:r>
              <a:rPr lang="en-US" sz="1100" dirty="0"/>
              <a:t> </a:t>
            </a:r>
          </a:p>
        </p:txBody>
      </p:sp>
      <p:pic>
        <p:nvPicPr>
          <p:cNvPr id="5122" name="Picture 2" descr="Defective interfering viruses and their impact on vaccines and viral  vectors - Frensing - 2015 - Biotechnology Journal - Wiley Online Library">
            <a:extLst>
              <a:ext uri="{FF2B5EF4-FFF2-40B4-BE49-F238E27FC236}">
                <a16:creationId xmlns:a16="http://schemas.microsoft.com/office/drawing/2014/main" id="{2880D7C6-54B6-F8E7-3FD1-E0FBBD0242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0" b="40917"/>
          <a:stretch>
            <a:fillRect/>
          </a:stretch>
        </p:blipFill>
        <p:spPr bwMode="auto">
          <a:xfrm>
            <a:off x="8305800" y="1048240"/>
            <a:ext cx="3387802" cy="199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6765BF-203D-23A4-E62B-0B2BD393779C}"/>
              </a:ext>
            </a:extLst>
          </p:cNvPr>
          <p:cNvSpPr txBox="1"/>
          <p:nvPr/>
        </p:nvSpPr>
        <p:spPr>
          <a:xfrm>
            <a:off x="498398" y="1703445"/>
            <a:ext cx="55976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 Particles can interfere with 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Common in polymerase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Coverage shape can spike at end or “bat ears”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create erroneous indel mutations at coverage </a:t>
            </a:r>
            <a:r>
              <a:rPr lang="en-US" sz="2000" dirty="0" err="1"/>
              <a:t>dropoff</a:t>
            </a:r>
            <a:r>
              <a:rPr lang="en-US" sz="2000" dirty="0"/>
              <a:t> points</a:t>
            </a:r>
          </a:p>
        </p:txBody>
      </p:sp>
    </p:spTree>
    <p:extLst>
      <p:ext uri="{BB962C8B-B14F-4D97-AF65-F5344CB8AC3E}">
        <p14:creationId xmlns:p14="http://schemas.microsoft.com/office/powerpoint/2010/main" val="629916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B62E-7D06-282F-644C-9D50BB38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6113F7-25A3-6C67-ABDD-06A064B6856F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F78C2-8695-E3F6-9713-9725F86E334C}"/>
              </a:ext>
            </a:extLst>
          </p:cNvPr>
          <p:cNvSpPr txBox="1"/>
          <p:nvPr/>
        </p:nvSpPr>
        <p:spPr>
          <a:xfrm>
            <a:off x="627960" y="99383"/>
            <a:ext cx="29308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 Particles 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01DA715C-9BE4-8EE3-DB40-F8B7E4B6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140E12-AA41-EB14-FBD3-5F97CEDE1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2234"/>
            <a:ext cx="7772400" cy="38935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71054B-7CD8-8C08-F50C-FBFE62CA2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892" y="5868758"/>
            <a:ext cx="7772400" cy="73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42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3EBC-56CD-36BE-9736-6A000035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82010E-2303-F9F4-AABB-0A81C3CC2465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0F9EE-037D-57C5-E557-824FC73A2A8B}"/>
              </a:ext>
            </a:extLst>
          </p:cNvPr>
          <p:cNvSpPr txBox="1"/>
          <p:nvPr/>
        </p:nvSpPr>
        <p:spPr>
          <a:xfrm>
            <a:off x="627960" y="99383"/>
            <a:ext cx="29166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Frameshifts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D5199255-F895-051F-8763-762B131F8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3A79E-46F5-85E6-3617-31ABCC459A35}"/>
              </a:ext>
            </a:extLst>
          </p:cNvPr>
          <p:cNvSpPr txBox="1"/>
          <p:nvPr/>
        </p:nvSpPr>
        <p:spPr>
          <a:xfrm>
            <a:off x="627960" y="1756028"/>
            <a:ext cx="50184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Prevalent in homopolymer regions of Oxford Nanopore Sequencing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DAIS-Ribosome is frameshift-tolerant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Shows as (~) mutation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 back to nucleotide space and add or remove base to fix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5CBB7-E420-6B78-F3EB-8133147F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012" y="1683341"/>
            <a:ext cx="5978138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88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3838-A1F8-C200-5BDB-A607CB3E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0EBFB1-2D4E-5606-7E1C-B802A87EC136}"/>
              </a:ext>
            </a:extLst>
          </p:cNvPr>
          <p:cNvSpPr/>
          <p:nvPr/>
        </p:nvSpPr>
        <p:spPr>
          <a:xfrm>
            <a:off x="0" y="0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FB658-9002-7E1A-F02D-014036C5FE3D}"/>
              </a:ext>
            </a:extLst>
          </p:cNvPr>
          <p:cNvSpPr txBox="1"/>
          <p:nvPr/>
        </p:nvSpPr>
        <p:spPr>
          <a:xfrm>
            <a:off x="627960" y="99383"/>
            <a:ext cx="273991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Thresholds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6F8B0BE5-E848-CA40-2AF7-89FD2D905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4A534E-0F21-15A4-6BFA-B1D2DA9DDE1B}"/>
              </a:ext>
            </a:extLst>
          </p:cNvPr>
          <p:cNvSpPr txBox="1"/>
          <p:nvPr/>
        </p:nvSpPr>
        <p:spPr>
          <a:xfrm>
            <a:off x="627960" y="1748790"/>
            <a:ext cx="64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Built-in thresholds are for standardizing QC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Statistical difference between 99x coverage and 100x coverage negligible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Consider each sample as a whole: if HA and NA pass but all other segments fail, consider why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 priority samples can be useful even when QC thresholds are not met</a:t>
            </a:r>
          </a:p>
        </p:txBody>
      </p:sp>
    </p:spTree>
    <p:extLst>
      <p:ext uri="{BB962C8B-B14F-4D97-AF65-F5344CB8AC3E}">
        <p14:creationId xmlns:p14="http://schemas.microsoft.com/office/powerpoint/2010/main" val="629828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C32C-315D-832B-C5F5-BAE78954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41D15-75EB-5E81-515D-1ED5D850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5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20892</TotalTime>
  <Words>1400</Words>
  <Application>Microsoft Macintosh PowerPoint</Application>
  <PresentationFormat>Widescreen</PresentationFormat>
  <Paragraphs>332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Lacek, Kristine (CDC/NCIRD/ID)</cp:lastModifiedBy>
  <cp:revision>3</cp:revision>
  <dcterms:created xsi:type="dcterms:W3CDTF">2026-02-09T16:23:20Z</dcterms:created>
  <dcterms:modified xsi:type="dcterms:W3CDTF">2026-03-16T19:01:12Z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2026-02-09T16:23:40Z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aac127e0-ec0f-4e26-b90f-13bf9cce25ae</vt:lpwstr>
  </property>
  <property fmtid="{D5CDD505-2E9C-101B-9397-08002B2CF9AE}" pid="8" name="MSIP_Label_7b94a7b8-f06c-4dfe-bdcc-9b548fd58c31_ContentBits">
    <vt:lpwstr>0</vt:lpwstr>
  </property>
  <property fmtid="{D5CDD505-2E9C-101B-9397-08002B2CF9AE}" pid="9" name="MSIP_Label_7b94a7b8-f06c-4dfe-bdcc-9b548fd58c31_Tag">
    <vt:lpwstr>10, 0, 1, 2</vt:lpwstr>
  </property>
</Properties>
</file>